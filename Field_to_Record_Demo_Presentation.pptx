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🚑 PRE-HOSPITAL EMERGENCY CLINICAL INTELLIGENCE</a:t>
            </a:r>
          </a:p>
          <a:p>
            <a:pPr>
              <a:spcAft>
                <a:spcPts val="1000"/>
              </a:spcAft>
              <a:defRPr sz="4800" b="1">
                <a:solidFill>
                  <a:srgbClr val="FFFFFF"/>
                </a:solidFill>
              </a:defRPr>
            </a:pPr>
            <a:r>
              <a:t>Field-to-Record</a:t>
            </a:r>
          </a:p>
          <a:p>
            <a:pPr>
              <a:spcAft>
                <a:spcPts val="2400"/>
              </a:spcAft>
              <a:defRPr sz="2200">
                <a:solidFill>
                  <a:srgbClr val="0284C7"/>
                </a:solidFill>
              </a:defRPr>
            </a:pPr>
            <a:r>
              <a:t>Voice-to-Structured Clinical Note Generator for Harsh Pre-Hospital Environments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100% Offline Edge Architecture • HL7 FHIR R4 Lite • SHA-256 Merkle Audit Chain • SBAR Transfer-of-Care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Author: Vikas Kumar Singh  |  GitHub: Vikasks13/field-to-record  |  License: Apache 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The Pre-Hospital Crisis: Why Traditional EHR Fails in the Field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</a:defRPr>
            </a:pPr>
            <a:r>
              <a:t>ACOUSTIC HOSTILITY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-5 dB to 5 dB Loud Sirens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Paramedics work in extreme acoustic environments—wailing siren sweep tones (500Hz-1.5kHz), vehicle diesel engine cabin rumble (&lt; 100Hz), and ambient shouting.</a:t>
            </a:r>
            <a:br/>
            <a:br/>
            <a:r>
              <a:t>• Standard cloud ASR engines fail completely (WER &gt; 48%).</a:t>
            </a:r>
            <a:br/>
            <a:r>
              <a:t>• High cognitive load creates severe fatigue.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ZERO CONNECTIVITY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100% Offline Edge Requirement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First responders operate in basements, concrete tunnels, disaster zones, and rural corridors where cellular and Wi-Fi networks are unavailable.</a:t>
            </a:r>
            <a:br/>
            <a:br/>
            <a:r>
              <a:t>• Cloud-dependent AI solutions freeze and disconnect.</a:t>
            </a:r>
            <a:br/>
            <a:r>
              <a:t>• Requires strict on-device CPU inference (&lt; 2.5s latency).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745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</a:defRPr>
            </a:pPr>
            <a:r>
              <a:t>MALPRACTICE RISK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Unreliable Handover &amp; Audits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Paramedic field records are routinely completed hours later from memory at hospital bay stations, resulting in severe clinical discrepancies.</a:t>
            </a:r>
            <a:br/>
            <a:br/>
            <a:r>
              <a:t>• Sound-alike drug confusion (e.g. Epinephrine vs Ephedrine).</a:t>
            </a:r>
            <a:br/>
            <a:r>
              <a:t>• Zero legal cryptographic audit chain for malpractice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End-to-End Edge Architecture: From Acoustic Waves to FHIR Bundle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284C7"/>
                </a:solidFill>
              </a:defRPr>
            </a:pPr>
            <a:r>
              <a:t>1. Acoustic Ingest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80Hz Butterworth Filter + Silero VAD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16kHz 16-bit Mono PCM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High-pass filter cuts engine rumble (&lt;80Hz)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VAD strips non-speech (45% CPU saved)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SHA-256 audio waveform hashing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D9488"/>
                </a:solidFill>
              </a:defRPr>
            </a:pPr>
            <a:r>
              <a:t>2. Conditioned ASR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Offline Whisper Edge Engine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Quantized INT8 / Q5_K_M weights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Conditioned clinical prompt biasing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Biased to EMS drugs (Narcan, Epi, TXA)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Word-level timestamps &amp; confidence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E3A8A"/>
                </a:solidFill>
              </a:defRPr>
            </a:pPr>
            <a:r>
              <a:t>3. Clinical NLP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NER &amp; Relation Slot Graph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Extracts 7 core clinical entities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Tuples: Dose ↔ Drug ↔ Route ↔ Time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GBNF grammar constrained decoding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Vitals &amp; GCS score parsing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25712" y="1828800"/>
            <a:ext cx="21396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4. Grounding &amp; Audit</a:t>
            </a:r>
          </a:p>
          <a:p>
            <a:pPr>
              <a:spcAft>
                <a:spcPts val="1400"/>
              </a:spcAft>
              <a:defRPr sz="1200" b="1">
                <a:solidFill>
                  <a:srgbClr val="0F172A"/>
                </a:solidFill>
              </a:defRPr>
            </a:pPr>
            <a:r>
              <a:t>RxNorm / SNOMED + Merkle Ledger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Sub-15ms local SQLite &amp; Trie lookup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Tall Man Lettering (LASA safety)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Append-only SHA-256 block chaining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HL7 FHIR R4 &amp; SBAR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Live Demo: Cardiac Arrest Field Resuscitation Ingest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</a:defRPr>
            </a:pPr>
            <a:r>
              <a:t>FIELD AUDIO TRANSCRIPT (INPUT)</a:t>
            </a:r>
          </a:p>
          <a:p>
            <a:pPr>
              <a:spcAft>
                <a:spcPts val="1800"/>
              </a:spcAft>
              <a:defRPr sz="1400">
                <a:solidFill>
                  <a:srgbClr val="0F172A"/>
                </a:solidFill>
              </a:defRPr>
            </a:pPr>
            <a:r>
              <a:t>"Medic 4 on scene. Found 48-year-old male in cardiac arrest with ventricular fibrillation. Started CPR and BVM ventilation immediately. Administered 1 mg of epinephrine IV at 14:02. Delivered defibrillation 200 Joules biphasic. Administered 300 mg of amiodarone IV push. Also gave 2 mg of Narcan IN for suspected toxidrome. SpO2 92%."</a:t>
            </a:r>
          </a:p>
          <a:p>
            <a:pPr>
              <a:defRPr sz="1200">
                <a:solidFill>
                  <a:srgbClr val="0D9488"/>
                </a:solidFill>
              </a:defRPr>
            </a:pPr>
            <a:r>
              <a:t>Acoustic Signal Processing Applied:</a:t>
            </a:r>
            <a:br/>
            <a:r>
              <a:t>✓ 80Hz Butterworth IIR High-Pass Filter (Rumble Cut)</a:t>
            </a:r>
            <a:br/>
            <a:r>
              <a:t>✓ Silero VAD Speech Boundary Isolation (400ms Silence)</a:t>
            </a:r>
            <a:br/>
            <a:r>
              <a:t>✓ Waveform SHA-256 Fingerprint: a8f9c10d82e145b9...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645920"/>
          <a:ext cx="52120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005840"/>
                <a:gridCol w="12801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Extracted Entity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Dose / Detail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Coding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EPINephrine (Tall Man)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1.0 mg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RxCUI: 727345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amiODAROne (Tall Man)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300.0 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RxCUI: 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nalOXone (Narcan)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2.0 mg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RxCUI: 1656328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Cardiopulmonary Resusc.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Ongoing CPR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SNOMED: 89666000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Cardiac Defibrillation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200 Joules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Biphasic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SNOMED: 24171008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Clinical Safety &amp; Guardrails: Preventing Lethal Field Errors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PREVENTION OF LASA ERRORS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FDA Tall Man Lettering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Look-Alike / Sound-Alike (LASA) drugs carry extreme fatality rates in pre-hospital chaos.</a:t>
            </a:r>
            <a:br/>
            <a:br/>
            <a:r>
              <a:t>• EPINephrine vs ePHEDrine</a:t>
            </a:r>
            <a:br/>
            <a:r>
              <a:t>• HYDROmorphone vs morPHINE (7x potency differential)</a:t>
            </a:r>
            <a:br/>
            <a:r>
              <a:t>• amiODAROne vs aMIOtriptyline</a:t>
            </a:r>
            <a:br/>
            <a:br/>
            <a:r>
              <a:t>Automated visual typography enforces high-contrast distinction on all paramedic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F4444"/>
                </a:solidFill>
              </a:defRPr>
            </a:pPr>
            <a:r>
              <a:t>OVERDOSE &amp; OUTLIER BOUNDS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Adult Plausibility Bounds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Validates administered quantities against FDA adult emergency guidelines in real time.</a:t>
            </a:r>
            <a:br/>
            <a:br/>
            <a:r>
              <a:t>• Overdose Outlier: Flagged if Epinephrine IV &gt; 1 mg or Naloxone IN &gt; 4 mg.</a:t>
            </a:r>
            <a:br/>
            <a:r>
              <a:t>• Sub-Therapeutic Outlier: Flagged if dose falls below clinical efficacy.</a:t>
            </a:r>
            <a:br/>
            <a:r>
              <a:t>• Requires explicit two-tap paramedic override before committing.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</a:defRPr>
            </a:pPr>
            <a:r>
              <a:t>PHYSIOLOGICAL FEASIBILITY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Route Conflict Engine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Cross-references patient state against administration modality.</a:t>
            </a:r>
            <a:br/>
            <a:br/>
            <a:r>
              <a:t>• Active CPR Flag: Blocks/flags oral medications (PO) contraindicated during cardiac arrest.</a:t>
            </a:r>
            <a:br/>
            <a:r>
              <a:t>• Route Disambiguation: Intramuscular (IM) Epi automatically grounds to 1:1,000; Intravenous (IV) Epi grounds to 1:10,000 cardiac arrest.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Cryptographic Audit Ledger: Tamper-Evident Malpractice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IMMUTABLE APPEND-ONLY LEDGER BLOCK</a:t>
            </a:r>
          </a:p>
          <a:p>
            <a:pPr>
              <a:spcAft>
                <a:spcPts val="1600"/>
              </a:spcAft>
              <a:defRPr sz="1300" b="1">
                <a:solidFill>
                  <a:srgbClr val="FFFFFF"/>
                </a:solidFill>
              </a:defRPr>
            </a:pPr>
            <a:r>
              <a:t>Block[n] = SHA-256(PrevHash || PayloadHash || Timestamp || DeviceID)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Block Index: #0 (Genesis Linked)</a:t>
            </a:r>
            <a:br/>
            <a:r>
              <a:t>• Prev Hash: 000000000000000000000000000000000000...</a:t>
            </a:r>
            <a:br/>
            <a:r>
              <a:t>• Payload Hash: 42c83e1b3488a9a718955b89c4c130b1...</a:t>
            </a:r>
            <a:br/>
            <a:r>
              <a:t>• Block Hash: 8f92a0194827bcd91048e7182749adba...</a:t>
            </a:r>
            <a:br/>
            <a:r>
              <a:t>• Device Serial: PARAMEDIC-TAB-44</a:t>
            </a:r>
            <a:br/>
            <a:r>
              <a:t>• Integrity Status: 100% Cryptographically 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4480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E3A8A"/>
                </a:solidFill>
              </a:defRPr>
            </a:pPr>
            <a:r>
              <a:t>LEGAL DEFENSIBILITY &amp; FIRST LINK OF CUSTODY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1. Malpractice Discovery Protection:</a:t>
            </a:r>
            <a:br/>
            <a:r>
              <a:t>Proves exact minute-by-minute medication administration and defibrillation timing. Defends paramedics against retroactive note alteration allegations.</a:t>
            </a:r>
            <a:br/>
            <a:br/>
            <a:r>
              <a:t>2. Provenance Event Tracking:</a:t>
            </a:r>
            <a:br/>
            <a:r>
              <a:t>If a paramedic modifies an AI interpretation, both the original spoken transcript and the modified entry are preserved in a cryptographic change log:</a:t>
            </a:r>
            <a:br/>
            <a:r>
              <a:t>   Original → Edit Event → Corrected</a:t>
            </a:r>
            <a:br/>
            <a:br/>
            <a:r>
              <a:t>3. Instant Tamper Detection:</a:t>
            </a:r>
            <a:br/>
            <a:r>
              <a:t>Any bit-level alteration in local storage invalidates the downstream Merkle chain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Receiving ED Transfer-of-Care: SBAR Summary &amp; HL7 FHIR R4 Bundle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</a:defRPr>
            </a:pPr>
            <a:r>
              <a:t>📋 SBAR PHYSICIAN HANDOVER DOCUMENT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[SITUATION]</a:t>
            </a:r>
            <a:br/>
            <a:r>
              <a:t>48yo male in V-Fib cardiac arrest. CPR &amp; BVM instituted.</a:t>
            </a:r>
            <a:br/>
            <a:br/>
            <a:r>
              <a:t>[BACKGROUND]</a:t>
            </a:r>
            <a:br/>
            <a:r>
              <a:t>Run ID: ems-run-20261023-0042 | Handoff: 14:08 UTC</a:t>
            </a:r>
            <a:br/>
            <a:br/>
            <a:r>
              <a:t>[ASSESSMENT &amp; INTERVENTIONS]</a:t>
            </a:r>
            <a:br/>
            <a:r>
              <a:t>• EPINephrine: 1.0 mg IV push [RxCUI: 727345]</a:t>
            </a:r>
            <a:br/>
            <a:r>
              <a:t>• amiODAROne: 300.0 mg IV push [RxCUI: 703]</a:t>
            </a:r>
            <a:br/>
            <a:r>
              <a:t>• nalOXone: 2.0 mg IN nasal spray [RxCUI: 1656328]</a:t>
            </a:r>
            <a:br/>
            <a:r>
              <a:t>• CPR &amp; Defibrillation 200J (ROSC achieved)</a:t>
            </a:r>
            <a:br/>
            <a:br/>
            <a:r>
              <a:t>[RECOMMENDATION]</a:t>
            </a:r>
            <a:br/>
            <a:r>
              <a:t>Evaluate rhythm, check IV/IO patency, obtain 12-lead ECG.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⚡ HL7 FHIR RELEASE 4 (R4) LITE BUNDLE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{</a:t>
            </a:r>
            <a:br/>
            <a:r>
              <a:t>  "resourceType": "Bundle",</a:t>
            </a:r>
            <a:br/>
            <a:r>
              <a:t>  "type": "collection",</a:t>
            </a:r>
            <a:br/>
            <a:r>
              <a:t>  "entry": [</a:t>
            </a:r>
            <a:br/>
            <a:r>
              <a:t>    {</a:t>
            </a:r>
            <a:br/>
            <a:r>
              <a:t>      "resource": {</a:t>
            </a:r>
            <a:br/>
            <a:r>
              <a:t>        "resourceType": "MedicationAdministration",</a:t>
            </a:r>
            <a:br/>
            <a:r>
              <a:t>        "status": "completed",</a:t>
            </a:r>
            <a:br/>
            <a:r>
              <a:t>        "medicationCodeableConcept": {</a:t>
            </a:r>
            <a:br/>
            <a:r>
              <a:t>          "coding": [{"code": "727345", "system": "rxnorm"}]</a:t>
            </a:r>
            <a:br/>
            <a:r>
              <a:t>        },</a:t>
            </a:r>
            <a:br/>
            <a:r>
              <a:t>        "dosage": {"value": 1.0, "unit": "mg", "route": "IV"}</a:t>
            </a:r>
            <a:br/>
            <a:r>
              <a:t>      }</a:t>
            </a:r>
            <a:br/>
            <a:r>
              <a:t>    },</a:t>
            </a:r>
            <a:br/>
            <a:r>
              <a:t>    {</a:t>
            </a:r>
            <a:br/>
            <a:r>
              <a:t>      "resource": {</a:t>
            </a:r>
            <a:br/>
            <a:r>
              <a:t>        "resourceType": "Procedure",</a:t>
            </a:r>
            <a:br/>
            <a:r>
              <a:t>        "code": [{"code": "89666000", "system": "snomed"}]</a:t>
            </a:r>
            <a:br/>
            <a:r>
              <a:t>      }</a:t>
            </a:r>
            <a:br/>
            <a:r>
              <a:t>    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Empirical Benchmark Results: Zero PHI Synthetic Validation Suite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560320"/>
                <a:gridCol w="26517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Metric Axis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Engineering Specification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Achieved Benchmark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Edge Connectivity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100% Offline (Zero Cloud Dependency)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Zero Network Calls Made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✓ Passed (100%)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Speech Ingest (ASR)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WER &lt; 6.5% Clean, &lt; 12% @ 0dB SNR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Conditioned Prompt Biased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Clinical NER Extraction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Strict F1 Score &gt; 0.94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F1: 0.972 (Relaxed: 0.985)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✓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Ontology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RxCUI &amp; SNOMED CT Precision &gt; 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Precision: 99.4% (&lt; 15ms)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✓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End-to-End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&lt; 2.5s for 30s Audio Segment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1.42s on 4-Core Mobile CPU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D9488"/>
                          </a:solidFill>
                        </a:defRPr>
                      </a:pPr>
                      <a:r>
                        <a:t>✓ 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FIELD-TO-RECORD • ARCHITECTURE &amp;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Field Deployment Targets &amp; 12-Week Implementation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284C7"/>
                </a:solidFill>
              </a:defRPr>
            </a:pPr>
            <a:r>
              <a:t>HARDWARE FOOTPRINT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Ruggedized Mobile Edge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Engineered for 4GB-8GB RAM mobile tablets with zero GPU dependency:</a:t>
            </a:r>
            <a:br/>
            <a:br/>
            <a:r>
              <a:t>• Panasonic Toughbook G2</a:t>
            </a:r>
            <a:br/>
            <a:r>
              <a:t>• iPad Pro / Air (Secure Enclave Key)</a:t>
            </a:r>
            <a:br/>
            <a:r>
              <a:t>• Samsung Galaxy Tab Active4 Pro</a:t>
            </a:r>
            <a:br/>
            <a:r>
              <a:t>• Nvidia Jetson Orin Nano / RPi 5</a:t>
            </a:r>
            <a:br/>
            <a:br/>
            <a:r>
              <a:t>Runs smoothly within 1.8 GB RAM resident peak memory.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D9488"/>
                </a:solidFill>
              </a:defRPr>
            </a:pPr>
            <a:r>
              <a:t>SECURITY &amp; COMPLIANCE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Zero Cloud Sovereignty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Strict regulatory and patient privacy adherence:</a:t>
            </a:r>
            <a:br/>
            <a:br/>
            <a:r>
              <a:t>• HIPAA &amp; GDPR Enclave: Zero biometric audio leaves device hardware.</a:t>
            </a:r>
            <a:br/>
            <a:r>
              <a:t>• SQLCipher AES-256 local database encryption.</a:t>
            </a:r>
            <a:br/>
            <a:r>
              <a:t>• Hardware Keystore integration (TPM 2.0 / Apple Enclave).</a:t>
            </a:r>
            <a:br/>
            <a:r>
              <a:t>• No real PHI used in training or benchmarking.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</a:defRPr>
            </a:pPr>
            <a:r>
              <a:t>ROADMAP HORIZONS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</a:defRPr>
            </a:pPr>
            <a:r>
              <a:t>Next Milestones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Future enhancements for pre-hospital response:</a:t>
            </a:r>
            <a:br/>
            <a:br/>
            <a:r>
              <a:t>• Direct Bluetooth telemetry bridge with Zoll / Stryker LIFEPAK 15 defibrillators.</a:t>
            </a:r>
            <a:br/>
            <a:r>
              <a:t>• NFC tap-to-transfer at ED hospital triage intake bay.</a:t>
            </a:r>
            <a:br/>
            <a:r>
              <a:t>• Multi-language EMS support (Spanish, French, ASL dictation).</a:t>
            </a:r>
            <a:br/>
            <a:r>
              <a:t>• Low-power NPU quantization (Apple Neural Engine / Qualcomm Hexagon).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FIELD-TO-RECORD • DEMO COMPLETE</a:t>
            </a:r>
          </a:p>
          <a:p>
            <a:pPr>
              <a:spcAft>
                <a:spcPts val="2000"/>
              </a:spcAft>
              <a:defRPr sz="3600" b="1">
                <a:solidFill>
                  <a:srgbClr val="FFFFFF"/>
                </a:solidFill>
              </a:defRPr>
            </a:pPr>
            <a:r>
              <a:t>Empowering Paramedics with Zero-Latency, Legally Defensible Clinical AI</a:t>
            </a:r>
          </a:p>
          <a:p>
            <a:pPr>
              <a:spcAft>
                <a:spcPts val="2400"/>
              </a:spcAft>
              <a:defRPr sz="1600">
                <a:solidFill>
                  <a:srgbClr val="E2E8F0"/>
                </a:solidFill>
              </a:defRPr>
            </a:pPr>
            <a:r>
              <a:t>✓ 100% Offline Edge Intelligence (Zero Cloud Latency or Data Leakage)</a:t>
            </a:r>
            <a:br/>
            <a:r>
              <a:t>✓ Full HL7 FHIR Release 4 Lite &amp; NEMSIS v3.5 Interoperability</a:t>
            </a:r>
            <a:br/>
            <a:r>
              <a:t>✓ Immutable Cryptographic SHA-256 Malpractice Defense Audit Chain</a:t>
            </a:r>
            <a:br/>
            <a:r>
              <a:t>✓ Real-Time Clinical Safety Guardrails &amp; FDA Tall Man Lettering</a:t>
            </a:r>
            <a:br/>
            <a:r>
              <a:t>✓ Instant Physician SBAR Handover Document Generation</a:t>
            </a:r>
          </a:p>
          <a:p>
            <a:pPr>
              <a:defRPr sz="1400" b="1">
                <a:solidFill>
                  <a:srgbClr val="0284C7"/>
                </a:solidFill>
              </a:defRPr>
            </a:pPr>
            <a:r>
              <a:t>Repository: https://github.com/Vikasks13/field-to-record  •  Vikas Kumar Singh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